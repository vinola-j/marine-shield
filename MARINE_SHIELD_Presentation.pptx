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64FFDA"/>
                </a:solidFill>
              </a:defRPr>
            </a:pPr>
            <a:r>
              <a:t>OCEANIC &amp; COASTAL ENVIRONMENTAL INTELLIGENCE</a:t>
            </a:r>
          </a:p>
          <a:p>
            <a:pPr>
              <a:spcAft>
                <a:spcPts val="1200"/>
              </a:spcAft>
              <a:defRPr sz="4400" b="1">
                <a:solidFill>
                  <a:srgbClr val="FFFFFF"/>
                </a:solidFill>
              </a:defRPr>
            </a:pPr>
            <a:r>
              <a:t>MARINE-SHIELD</a:t>
            </a:r>
          </a:p>
          <a:p>
            <a:pPr>
              <a:spcAft>
                <a:spcPts val="2800"/>
              </a:spcAft>
              <a:defRPr sz="1800">
                <a:solidFill>
                  <a:srgbClr val="90E0EF"/>
                </a:solidFill>
              </a:defRPr>
            </a:pPr>
            <a:r>
              <a:t>AI-Powered Marine Pollution Detection, Assessment &amp; Grounded Response System</a:t>
            </a:r>
          </a:p>
          <a:p>
            <a:pPr>
              <a:defRPr sz="1200">
                <a:solidFill>
                  <a:srgbClr val="CBD5E1"/>
                </a:solidFill>
              </a:defRPr>
            </a:pPr>
            <a:r>
              <a:t>Computer Vision (MobileNetV3)  |  RAG (FAISS + MiniLM)  |  FastAPI &amp; Streamlit  |  Automated PDF Reports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Marine Pollution Crisis &amp; Operational Bottlenecks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MARINE-SHIELD: AI-Powered Marine Pollution Detection, Assessment &amp; Response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" cy="466344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Ecological Threat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Over 14 million tons of plastic enter oceanic ecosystems annually.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80% of marine debris accumulates in coastal intertidal zones.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Microplastic fragmentation adsorbs persistent organic pollutants (POPs).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Widespread mortality across sea turtles, cetaceans, and seabirds.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109728" cy="4663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Ghost Gear Mortality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Abandoned, Lost, or Discarded Fishing Gear (ALDFG) continues 'ghost fishing'.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Synthetic nylon nets remain lethal in benthic reefs for decades.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Causes fatal entanglements and reef smothering.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Severe physical hazard to divers, boat propellers, and volunteers.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109728" cy="46634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Current Operational Gaps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Slow manual coastal surveys delay emergency interventions.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Lack of standardized, explainable severity triage for field responders.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Disconnected environmental manuals cause inconsistent PPE and segregation.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No automated reporting pipeline for maritime and environmental authorities.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End-to-End Autonomous Pipeline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MARINE-SHIELD: AI-Powered Marine Pollution Detection, Assessment &amp; Response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2057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" cy="46634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1737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1. Image Ingestion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Multipart image upload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Format &amp; corrupt validation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Secure UUID persistence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Edge &amp; visual feature proxy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26080" y="1371600"/>
            <a:ext cx="2057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1371600"/>
            <a:ext cx="109728" cy="46634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54680" y="1508760"/>
            <a:ext cx="1737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2. Deep Learning CV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MobileNetV3 transfer model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6 pollution classes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Confidence scoring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Low-confidence triage flag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0640" y="1371600"/>
            <a:ext cx="2057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20640" y="1371600"/>
            <a:ext cx="109728" cy="4663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508760"/>
            <a:ext cx="1737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3. Severity Triage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Multi-factor rule matrix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Base hazard weighting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Edge density proxy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Explainable rationale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199" y="1371600"/>
            <a:ext cx="2057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199" y="1371600"/>
            <a:ext cx="109728" cy="46634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43799" y="1508760"/>
            <a:ext cx="1737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4. RAG Intelligence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Sentence Transformers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Persistent FAISS index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6 Domain knowledge manuals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Cosine similarity ranking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09760" y="1371600"/>
            <a:ext cx="205740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509760" y="1371600"/>
            <a:ext cx="109728" cy="466344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38360" y="1508760"/>
            <a:ext cx="1737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5. Grounded Output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5-section structured AI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Strict anti-hallucination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Offline synthesizer fallback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Publication PDF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COMPUTER VISION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MobileNetV3 Classification &amp; Verified Empirical Metrics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MARINE-SHIELD: AI-Powered Marine Pollution Detection, Assessment &amp; Response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" cy="46634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Model Architecture &amp; Training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Backbone: Pre-trained MobileNetV3-Small (lightweight &amp; CPU-optimized).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Custom Head: Linear(1024, 256) -&gt; Hardswish -&gt; Dropout(0.3) -&gt; Linear(256, 6).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Training Pipeline: AdamW optimizer, Cosine Annealing scheduler, data augmentation.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6 Supported Classes: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1. Plastic Waste      4. Metal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2. Fishing Net        5. Organic Waste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3. Glass              6. Other Waste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Confidence Safety: Auto-flags predictions below 0.60 threshold.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109728" cy="46634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Empirical Test Performance (Verified)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Overall Test Accuracy: 87.5%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Macro Precision: 92.86%  |  Macro Recall: 87.50%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Macro F1-Score: 85.45%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Class F1-Scores: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• Plastic Waste: 1.000 (100%)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• Fishing Net:   1.000 (100%)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• Glass:         1.000 (100%)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• Metal:         1.000 (100%)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• Other Waste:   0.727 (72.7%)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• Organic Waste: 0.400 (40.0%)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Metrics stored permanently in models/evaluation_metrics.json.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SEVERITY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Transparent Multi-Factor Severity Scoring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MARINE-SHIELD: AI-Powered Marine Pollution Detection, Assessment &amp; Response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" cy="46634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Base Hazard Weights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Inherent ecological threat weighting: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Fishing Net: 0.85 (Acute lethal ghost-fishing)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Plastic Waste: 0.70 (Microplastics &amp; ingestion)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Metal: 0.65 (Oxidation &amp; sharp hazard)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Glass: 0.50 (Laceration hazard)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Other Waste: 0.55 (Mixed debris)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Organic Waste: 0.35 (Biodegradable biomass)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109728" cy="46634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Visual Cues &amp; Density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Computer Vision Feature Extraction: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Edge Density Filter: Measures debris boundary complexity and fragmentation.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Contrast &amp; Clutter Score: Proxies multi-item accumulation vs isolated items.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Confidence Dampening: Low confidence automatically pulls extreme scores toward moderate triage.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109728" cy="466344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Triage Output Levels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LOW Severity (&lt; 0.40):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Isolated single-item debris; low immediate risk.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MEDIUM Severity (0.40 - 0.70):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Moderate localized debris cluster.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HIGH Severity (&gt;= 0.70):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Dense accumulation or lethal entanglement net.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Prominent Disclaimer: Prototype decision-support index, not a legal regulatory metric.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KNOWLEDGE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Retrieval-Augmented Generation (RAG)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MARINE-SHIELD: AI-Powered Marine Pollution Detection, Assessment &amp; Response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" cy="466344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Semantic Retrieval Engine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Embedding Model: Sentence Transformers all-MiniLM-L6-v2 (384 dimensions).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Vector Store: Persistent FAISS IndexFlatIP (exact Cosine Similarity).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Persistence: Indexed once on disk (vectorstore/faiss_index.bin); sub-millisecond RAM search.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Dynamic Query Formulation: Blends detected class, severity score, and user query.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Output: Ranked source citations with document names, excerpts, and similarity scores.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109728" cy="46634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Indexed Marine Manuals (24 Chunks)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1. KB-DOC-001: Marine Plastic Pollution &amp; Microplastics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 Degradation vectors, POPs adsorption, ingestion pathways.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2. KB-DOC-002: Abandoned Fishing Gear (ALDFG)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 Ghost net dynamics, entangled fauna rescue, specialized cutting.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3. KB-DOC-003: Marine Glass &amp; Metal Debris Hazards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 Laceration triage, container pitfall traps, puncture-proof PPE.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4. KB-DOC-004: Organic Coastal Waste &amp; Algal Blooms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 Sargassum eutrophication, anoxia, hydrogen sulfide emissions.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5. KB-DOC-005: Coastal Cleanup Standard Operating Procedures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 4-stream waste segregation, volunteer PPE, tidal timing.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6. KB-DOC-006: 100-Meter Transect Environmental Monitoring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 Debris density tallying, rapid triage scoring, evidence preservation.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GENERATIVE AI &amp;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Factually Grounded AI Synthesis &amp; Anti-Hallucination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MARINE-SHIELD: AI-Powered Marine Pollution Detection, Assessment &amp; Response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" cy="46634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Strict Anti-Hallucination Guardrails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Configurable LLM: Google Gemini 2.5 Flash, OpenAI, or local offline synthesizer.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Strict System Instruction: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'Do not invent facts, statistics, regulations, laws, or scientific claims. Strictly ground responses on retrieved knowledge context.'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Clear Separation of Tiers: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1. Computer Vision Prediction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2. Severity Assessment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3. Retrieved Factual Context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4. AI-Generated Recommendation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Graceful Fallback: Deterministic offline synthesizer executes when API keys are absent.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109728" cy="46634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Standardized 5-Section Environmental Report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Every assessment is structured into 5 standard sections: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1. Detection Explanation: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 Visual identification, material characteristics, confidence level.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2. Environmental Significance: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 Ingestion risks, chemical leachates, trophic web transfer.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3. Recommended Response: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 Actionable step-by-step cleanup protocol and PPE requirements.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4. Monitoring Considerations: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 Biofouling observations, GPS coordinates, transect density.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5. Limitations: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   Transparent AI prototype disclaimer and field verification notice.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IMPLEMENTATION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Production-Grade Full-Stack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MARINE-SHIELD: AI-Powered Marine Pollution Detection, Assessment &amp; Response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" cy="466344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Backend &amp; Services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FastAPI &amp; Uvicorn: High-throughput asynchronous REST API.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Pydantic v2: Strict request/response validation schema.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SQLAlchemy ORM &amp; SQLite: Persistent storage for analyses, sources, and reports.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Interactive Swagger Documentation: Available at /docs.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Automated Lifecycle: Caches model and FAISS vector index on startup.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109728" cy="46634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Frontend &amp; Reporting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Streamlit 1.38+: Clean ocean-themed dashboard with 7 navigation modules.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Interactive Cards: Real-time progress, severity badges, confidence meters.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ReportLab Platypus Engine: Generates multi-page publication-grade PDF incident reports.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Numbered Canvas: Dynamic page counting ('Page X of Y') and security footer.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Embedded Evidence: Includes uploaded thumbnail and RAG citation table.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109728" cy="46634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Quality Assurance &amp; DevOps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Pytest Suite: 24 comprehensive tests covering all pipelines (100% pass rate in 22s).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Multi-Stage Dockerfile: Headless Linux container with libgl1 and dependencies.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Docker Compose: Isolated backend (8000) and frontend (8501) network services.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One-Click Windows Launcher: run.bat and run_app.py for instant local startup.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DEPLOYMENT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Deployment Architecture &amp; Access Channels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MARINE-SHIELD: AI-Powered Marine Pollution Detection, Assessment &amp; Response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" cy="46634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Streamlit Community Cloud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100% Free Public Cloud Hosting.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Linked to GitHub: vinola-J/MARINE-SHIELD.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Automatic CI/CD deployment on git push.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Built-in HTTPS SSL certificate.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Custom public URL: https://&lt;app-name&gt;.streamlit.app.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Environment secrets management for LLM keys.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109728" cy="46634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Containerized Cloud (Docker)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Multi-service docker-compose.yml configuration.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Compatible with AWS ECS, Google Cloud Run, Azure Container Apps, or Render.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Persistent volume mounts for database, reports, and models.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Automated healthcheck probes targeting /api/health.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2918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109728" cy="4663440"/>
          </a:xfrm>
          <a:prstGeom prst="roundRect">
            <a:avLst/>
          </a:prstGeom>
          <a:solidFill>
            <a:srgbClr val="0D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508760"/>
            <a:ext cx="2971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Local &amp; Edge Deployment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One-click Windows batch launcher: run.bat.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Unified multi-server runner: run_app.py.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Localhost ports: 8501 (Frontend) &amp; 8000 (Backend).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Low RAM/CPU Footprint: MobileNetV3 runs smoothly on standard laptop hardware without GPU.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4FFDA"/>
                </a:solidFill>
              </a:defRPr>
            </a:pPr>
            <a:r>
              <a:t>FUTURE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Environmental Impact, Roadmap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4A5568"/>
                </a:solidFill>
              </a:defRPr>
            </a:pPr>
            <a:r>
              <a:t>MARINE-SHIELD: AI-Powered Marine Pollution Detection, Assessment &amp; Response • Confidential &amp; Proprietary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12064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371600"/>
            <a:ext cx="109728" cy="466344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800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Immediate Environmental Value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Rapid Triage: Shrinks coastal incident categorization from days to under 2 seconds.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Standardized Protocol: Prevents volunteer injuries through automated PPE and segregation guidance.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Scientific Evidence: Structured PDF reports bridge citizen science observations with municipal authorities.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Ghost Net Alert: High-severity escalation for derelict gear saves entangled marine wildlife.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120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109728" cy="4663440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508760"/>
            <a:ext cx="48920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0F172A"/>
                </a:solidFill>
              </a:defRPr>
            </a:pPr>
            <a:r>
              <a:t>Future Technological Roadmap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Drone &amp; UAV Stream Integration: Real-time aerial beach sweep video classification.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Semantic Segmentation (YOLOv11-Seg): Bounding box pixel-level debris volume estimation.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Direct Maritime API Feeds: Automated incident dispatch to NOAA and local marine sanctuary authorities.</a:t>
            </a:r>
          </a:p>
          <a:p>
            <a:pPr>
              <a:spcAft>
                <a:spcPts val="400"/>
              </a:spcAft>
              <a:defRPr sz="1050">
                <a:solidFill>
                  <a:srgbClr val="4A5568"/>
                </a:solidFill>
              </a:defRPr>
            </a:pPr>
            <a:r>
              <a:t>• • Offline Edge Kit: Packaging for lightweight Raspberry Pi / NVIDIA Jetson field camera stations.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